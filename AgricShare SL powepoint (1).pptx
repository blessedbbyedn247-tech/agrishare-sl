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03" autoAdjust="0"/>
    <p:restoredTop sz="94585" autoAdjust="0"/>
  </p:normalViewPr>
  <p:slideViewPr>
    <p:cSldViewPr>
      <p:cViewPr varScale="1">
        <p:scale>
          <a:sx n="68" d="100"/>
          <a:sy n="68" d="100"/>
        </p:scale>
        <p:origin x="-142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2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90"/>
    </p:cViewPr>
  </p:sorterViewPr>
  <p:notesViewPr>
    <p:cSldViewPr>
      <p:cViewPr varScale="1">
        <p:scale>
          <a:sx n="55" d="100"/>
          <a:sy n="55" d="100"/>
        </p:scale>
        <p:origin x="-28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DC07CE-2707-44F1-B643-FFADD9DBB6E1}" type="doc">
      <dgm:prSet loTypeId="urn:microsoft.com/office/officeart/2005/8/layout/cycle5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1077DD7-39EA-43DF-BD75-AD044E4D5917}">
      <dgm:prSet phldrT="[Text]"/>
      <dgm:spPr/>
      <dgm:t>
        <a:bodyPr/>
        <a:lstStyle/>
        <a:p>
          <a:r>
            <a:rPr lang="en-US" dirty="0" smtClean="0"/>
            <a:t>1. Requirements &amp; Planning</a:t>
          </a:r>
          <a:endParaRPr lang="en-US" dirty="0"/>
        </a:p>
      </dgm:t>
    </dgm:pt>
    <dgm:pt modelId="{2655EF79-61E3-4EAC-8CB0-769837AA0511}" type="parTrans" cxnId="{A84ADDEE-0125-4A4B-A361-EE43283E5861}">
      <dgm:prSet/>
      <dgm:spPr/>
      <dgm:t>
        <a:bodyPr/>
        <a:lstStyle/>
        <a:p>
          <a:endParaRPr lang="en-US"/>
        </a:p>
      </dgm:t>
    </dgm:pt>
    <dgm:pt modelId="{811CD215-A045-4208-B26E-78B95B5B1894}" type="sibTrans" cxnId="{A84ADDEE-0125-4A4B-A361-EE43283E5861}">
      <dgm:prSet/>
      <dgm:spPr/>
      <dgm:t>
        <a:bodyPr/>
        <a:lstStyle/>
        <a:p>
          <a:endParaRPr lang="en-US"/>
        </a:p>
      </dgm:t>
    </dgm:pt>
    <dgm:pt modelId="{A363C7CB-D641-4FC4-9B4B-54DACCC1ECA9}">
      <dgm:prSet phldrT="[Text]"/>
      <dgm:spPr/>
      <dgm:t>
        <a:bodyPr/>
        <a:lstStyle/>
        <a:p>
          <a:r>
            <a:rPr lang="en-US" dirty="0" smtClean="0"/>
            <a:t>2. Design  (Figma)</a:t>
          </a:r>
          <a:endParaRPr lang="en-US" dirty="0"/>
        </a:p>
      </dgm:t>
    </dgm:pt>
    <dgm:pt modelId="{384CDF69-B36D-4F8D-BD96-96E26FDA5A78}" type="parTrans" cxnId="{46F0746A-CE20-4C0A-B3D4-2D35A0DC2FEA}">
      <dgm:prSet/>
      <dgm:spPr/>
      <dgm:t>
        <a:bodyPr/>
        <a:lstStyle/>
        <a:p>
          <a:endParaRPr lang="en-US"/>
        </a:p>
      </dgm:t>
    </dgm:pt>
    <dgm:pt modelId="{32074876-E230-412A-911E-B87DEB183B6F}" type="sibTrans" cxnId="{46F0746A-CE20-4C0A-B3D4-2D35A0DC2FEA}">
      <dgm:prSet/>
      <dgm:spPr/>
      <dgm:t>
        <a:bodyPr/>
        <a:lstStyle/>
        <a:p>
          <a:endParaRPr lang="en-US"/>
        </a:p>
      </dgm:t>
    </dgm:pt>
    <dgm:pt modelId="{C44F63CF-A985-46DF-82C8-240669A2B68D}">
      <dgm:prSet phldrT="[Text]"/>
      <dgm:spPr/>
      <dgm:t>
        <a:bodyPr/>
        <a:lstStyle/>
        <a:p>
          <a:r>
            <a:rPr lang="en-US" dirty="0" smtClean="0"/>
            <a:t>3. Iterative Development</a:t>
          </a:r>
          <a:endParaRPr lang="en-US" dirty="0"/>
        </a:p>
      </dgm:t>
    </dgm:pt>
    <dgm:pt modelId="{98ABAC06-0727-4400-A0E2-0AB675592AAB}" type="parTrans" cxnId="{C646AD65-42FC-41D6-83FB-BF4E35DAC61F}">
      <dgm:prSet/>
      <dgm:spPr/>
      <dgm:t>
        <a:bodyPr/>
        <a:lstStyle/>
        <a:p>
          <a:endParaRPr lang="en-US"/>
        </a:p>
      </dgm:t>
    </dgm:pt>
    <dgm:pt modelId="{7029C31B-2A5C-4C9A-911A-93B1FA5D462E}" type="sibTrans" cxnId="{C646AD65-42FC-41D6-83FB-BF4E35DAC61F}">
      <dgm:prSet/>
      <dgm:spPr/>
      <dgm:t>
        <a:bodyPr/>
        <a:lstStyle/>
        <a:p>
          <a:endParaRPr lang="en-US"/>
        </a:p>
      </dgm:t>
    </dgm:pt>
    <dgm:pt modelId="{9F493985-C2C4-4FD3-82CA-8DEFB02171E2}">
      <dgm:prSet phldrT="[Text]"/>
      <dgm:spPr/>
      <dgm:t>
        <a:bodyPr/>
        <a:lstStyle/>
        <a:p>
          <a:r>
            <a:rPr lang="en-US" dirty="0" smtClean="0"/>
            <a:t>4. Testing &amp; Feedback</a:t>
          </a:r>
          <a:endParaRPr lang="en-US" dirty="0"/>
        </a:p>
      </dgm:t>
    </dgm:pt>
    <dgm:pt modelId="{D0D66F88-A388-44C2-A8C7-704674012866}" type="parTrans" cxnId="{1B457948-3C5A-46D3-8A79-CA0B6DD148E4}">
      <dgm:prSet/>
      <dgm:spPr/>
      <dgm:t>
        <a:bodyPr/>
        <a:lstStyle/>
        <a:p>
          <a:endParaRPr lang="en-US"/>
        </a:p>
      </dgm:t>
    </dgm:pt>
    <dgm:pt modelId="{A106156C-1267-4742-BBB4-DF428EDE1DCA}" type="sibTrans" cxnId="{1B457948-3C5A-46D3-8A79-CA0B6DD148E4}">
      <dgm:prSet/>
      <dgm:spPr/>
      <dgm:t>
        <a:bodyPr/>
        <a:lstStyle/>
        <a:p>
          <a:endParaRPr lang="en-US"/>
        </a:p>
      </dgm:t>
    </dgm:pt>
    <dgm:pt modelId="{B2D51EDA-B737-498F-A9F5-A4317E0EBCF9}">
      <dgm:prSet phldrT="[Text]"/>
      <dgm:spPr/>
      <dgm:t>
        <a:bodyPr/>
        <a:lstStyle/>
        <a:p>
          <a:r>
            <a:rPr lang="en-US" dirty="0" smtClean="0"/>
            <a:t>5. Deployment &amp; Review</a:t>
          </a:r>
          <a:endParaRPr lang="en-US" dirty="0"/>
        </a:p>
      </dgm:t>
    </dgm:pt>
    <dgm:pt modelId="{0DEBD3FF-C2BE-4D12-9210-9729473E5209}" type="parTrans" cxnId="{9134A342-8E39-4D01-AC8C-BC8FB49F6C8C}">
      <dgm:prSet/>
      <dgm:spPr/>
      <dgm:t>
        <a:bodyPr/>
        <a:lstStyle/>
        <a:p>
          <a:endParaRPr lang="en-US"/>
        </a:p>
      </dgm:t>
    </dgm:pt>
    <dgm:pt modelId="{5C5942C5-E7BC-4B53-9DA8-88AB0228F6DC}" type="sibTrans" cxnId="{9134A342-8E39-4D01-AC8C-BC8FB49F6C8C}">
      <dgm:prSet/>
      <dgm:spPr/>
      <dgm:t>
        <a:bodyPr/>
        <a:lstStyle/>
        <a:p>
          <a:endParaRPr lang="en-US"/>
        </a:p>
      </dgm:t>
    </dgm:pt>
    <dgm:pt modelId="{4CCEF618-0F1C-4BB1-8242-5358FB28D986}" type="pres">
      <dgm:prSet presAssocID="{BEDC07CE-2707-44F1-B643-FFADD9DBB6E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CB93D15-00F8-4D8C-8175-B7F7F7582196}" type="pres">
      <dgm:prSet presAssocID="{01077DD7-39EA-43DF-BD75-AD044E4D5917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12B131-18D0-4A62-BF60-3482D945D940}" type="pres">
      <dgm:prSet presAssocID="{01077DD7-39EA-43DF-BD75-AD044E4D5917}" presName="spNode" presStyleCnt="0"/>
      <dgm:spPr/>
    </dgm:pt>
    <dgm:pt modelId="{AD57CAF4-FC4F-4A90-81E2-7C797CFEBE1B}" type="pres">
      <dgm:prSet presAssocID="{811CD215-A045-4208-B26E-78B95B5B1894}" presName="sibTrans" presStyleLbl="sibTrans1D1" presStyleIdx="0" presStyleCnt="5"/>
      <dgm:spPr/>
      <dgm:t>
        <a:bodyPr/>
        <a:lstStyle/>
        <a:p>
          <a:endParaRPr lang="en-US"/>
        </a:p>
      </dgm:t>
    </dgm:pt>
    <dgm:pt modelId="{A577E049-D61D-4608-A18A-57299E4A0FD4}" type="pres">
      <dgm:prSet presAssocID="{A363C7CB-D641-4FC4-9B4B-54DACCC1ECA9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D19ED9-2CCF-459B-987D-174B8D70D55B}" type="pres">
      <dgm:prSet presAssocID="{A363C7CB-D641-4FC4-9B4B-54DACCC1ECA9}" presName="spNode" presStyleCnt="0"/>
      <dgm:spPr/>
    </dgm:pt>
    <dgm:pt modelId="{E7CF2EBA-7D38-42CA-92C0-AE6438D12E91}" type="pres">
      <dgm:prSet presAssocID="{32074876-E230-412A-911E-B87DEB183B6F}" presName="sibTrans" presStyleLbl="sibTrans1D1" presStyleIdx="1" presStyleCnt="5"/>
      <dgm:spPr/>
      <dgm:t>
        <a:bodyPr/>
        <a:lstStyle/>
        <a:p>
          <a:endParaRPr lang="en-US"/>
        </a:p>
      </dgm:t>
    </dgm:pt>
    <dgm:pt modelId="{8259AC97-E9ED-43BD-8A5D-D0DBB4C70F34}" type="pres">
      <dgm:prSet presAssocID="{C44F63CF-A985-46DF-82C8-240669A2B68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76D024-B163-4E49-B760-646A1C8926D4}" type="pres">
      <dgm:prSet presAssocID="{C44F63CF-A985-46DF-82C8-240669A2B68D}" presName="spNode" presStyleCnt="0"/>
      <dgm:spPr/>
    </dgm:pt>
    <dgm:pt modelId="{DF48EE01-8013-4899-A9BE-EEC5CE3B7F00}" type="pres">
      <dgm:prSet presAssocID="{7029C31B-2A5C-4C9A-911A-93B1FA5D462E}" presName="sibTrans" presStyleLbl="sibTrans1D1" presStyleIdx="2" presStyleCnt="5"/>
      <dgm:spPr/>
      <dgm:t>
        <a:bodyPr/>
        <a:lstStyle/>
        <a:p>
          <a:endParaRPr lang="en-US"/>
        </a:p>
      </dgm:t>
    </dgm:pt>
    <dgm:pt modelId="{97266C65-3406-4F49-A6EC-83D27CE79E5F}" type="pres">
      <dgm:prSet presAssocID="{9F493985-C2C4-4FD3-82CA-8DEFB02171E2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1E782D-188F-4B73-BB2C-63F7DCA825B3}" type="pres">
      <dgm:prSet presAssocID="{9F493985-C2C4-4FD3-82CA-8DEFB02171E2}" presName="spNode" presStyleCnt="0"/>
      <dgm:spPr/>
    </dgm:pt>
    <dgm:pt modelId="{6B56B917-2E43-4499-B0A3-2A3ED4EFCE5A}" type="pres">
      <dgm:prSet presAssocID="{A106156C-1267-4742-BBB4-DF428EDE1DCA}" presName="sibTrans" presStyleLbl="sibTrans1D1" presStyleIdx="3" presStyleCnt="5"/>
      <dgm:spPr/>
      <dgm:t>
        <a:bodyPr/>
        <a:lstStyle/>
        <a:p>
          <a:endParaRPr lang="en-US"/>
        </a:p>
      </dgm:t>
    </dgm:pt>
    <dgm:pt modelId="{78A873E9-1339-4946-9A60-5571F2DA1EDE}" type="pres">
      <dgm:prSet presAssocID="{B2D51EDA-B737-498F-A9F5-A4317E0EBCF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C1BEA6-A4E2-4AC7-88CF-8DBDBD167B06}" type="pres">
      <dgm:prSet presAssocID="{B2D51EDA-B737-498F-A9F5-A4317E0EBCF9}" presName="spNode" presStyleCnt="0"/>
      <dgm:spPr/>
    </dgm:pt>
    <dgm:pt modelId="{DA10EE5A-E714-486C-ABC8-DB044F132EEC}" type="pres">
      <dgm:prSet presAssocID="{5C5942C5-E7BC-4B53-9DA8-88AB0228F6DC}" presName="sibTrans" presStyleLbl="sibTrans1D1" presStyleIdx="4" presStyleCnt="5"/>
      <dgm:spPr/>
      <dgm:t>
        <a:bodyPr/>
        <a:lstStyle/>
        <a:p>
          <a:endParaRPr lang="en-US"/>
        </a:p>
      </dgm:t>
    </dgm:pt>
  </dgm:ptLst>
  <dgm:cxnLst>
    <dgm:cxn modelId="{D06D236B-2107-4765-AACC-44D3D1D6E5B2}" type="presOf" srcId="{BEDC07CE-2707-44F1-B643-FFADD9DBB6E1}" destId="{4CCEF618-0F1C-4BB1-8242-5358FB28D986}" srcOrd="0" destOrd="0" presId="urn:microsoft.com/office/officeart/2005/8/layout/cycle5"/>
    <dgm:cxn modelId="{16F265F2-793D-44EB-AE87-1F3E1B2CAC8C}" type="presOf" srcId="{B2D51EDA-B737-498F-A9F5-A4317E0EBCF9}" destId="{78A873E9-1339-4946-9A60-5571F2DA1EDE}" srcOrd="0" destOrd="0" presId="urn:microsoft.com/office/officeart/2005/8/layout/cycle5"/>
    <dgm:cxn modelId="{46F0746A-CE20-4C0A-B3D4-2D35A0DC2FEA}" srcId="{BEDC07CE-2707-44F1-B643-FFADD9DBB6E1}" destId="{A363C7CB-D641-4FC4-9B4B-54DACCC1ECA9}" srcOrd="1" destOrd="0" parTransId="{384CDF69-B36D-4F8D-BD96-96E26FDA5A78}" sibTransId="{32074876-E230-412A-911E-B87DEB183B6F}"/>
    <dgm:cxn modelId="{A89E31B5-CBC9-4ABD-A6EF-AAE355ADA482}" type="presOf" srcId="{811CD215-A045-4208-B26E-78B95B5B1894}" destId="{AD57CAF4-FC4F-4A90-81E2-7C797CFEBE1B}" srcOrd="0" destOrd="0" presId="urn:microsoft.com/office/officeart/2005/8/layout/cycle5"/>
    <dgm:cxn modelId="{FC426881-5BCB-4220-8998-05E390BAD47C}" type="presOf" srcId="{5C5942C5-E7BC-4B53-9DA8-88AB0228F6DC}" destId="{DA10EE5A-E714-486C-ABC8-DB044F132EEC}" srcOrd="0" destOrd="0" presId="urn:microsoft.com/office/officeart/2005/8/layout/cycle5"/>
    <dgm:cxn modelId="{1B457948-3C5A-46D3-8A79-CA0B6DD148E4}" srcId="{BEDC07CE-2707-44F1-B643-FFADD9DBB6E1}" destId="{9F493985-C2C4-4FD3-82CA-8DEFB02171E2}" srcOrd="3" destOrd="0" parTransId="{D0D66F88-A388-44C2-A8C7-704674012866}" sibTransId="{A106156C-1267-4742-BBB4-DF428EDE1DCA}"/>
    <dgm:cxn modelId="{524B1372-F59A-4C5C-B8AA-16CD5727E70D}" type="presOf" srcId="{7029C31B-2A5C-4C9A-911A-93B1FA5D462E}" destId="{DF48EE01-8013-4899-A9BE-EEC5CE3B7F00}" srcOrd="0" destOrd="0" presId="urn:microsoft.com/office/officeart/2005/8/layout/cycle5"/>
    <dgm:cxn modelId="{832D3FF3-1265-4386-AD06-3A5B98B84711}" type="presOf" srcId="{A363C7CB-D641-4FC4-9B4B-54DACCC1ECA9}" destId="{A577E049-D61D-4608-A18A-57299E4A0FD4}" srcOrd="0" destOrd="0" presId="urn:microsoft.com/office/officeart/2005/8/layout/cycle5"/>
    <dgm:cxn modelId="{D83CF23D-F67A-43BD-9686-5C7A07AFD882}" type="presOf" srcId="{01077DD7-39EA-43DF-BD75-AD044E4D5917}" destId="{ACB93D15-00F8-4D8C-8175-B7F7F7582196}" srcOrd="0" destOrd="0" presId="urn:microsoft.com/office/officeart/2005/8/layout/cycle5"/>
    <dgm:cxn modelId="{EB5CD39C-90F5-414D-A00C-A596E857A832}" type="presOf" srcId="{9F493985-C2C4-4FD3-82CA-8DEFB02171E2}" destId="{97266C65-3406-4F49-A6EC-83D27CE79E5F}" srcOrd="0" destOrd="0" presId="urn:microsoft.com/office/officeart/2005/8/layout/cycle5"/>
    <dgm:cxn modelId="{5546D2A1-9331-4993-B758-F5377D6D6D30}" type="presOf" srcId="{A106156C-1267-4742-BBB4-DF428EDE1DCA}" destId="{6B56B917-2E43-4499-B0A3-2A3ED4EFCE5A}" srcOrd="0" destOrd="0" presId="urn:microsoft.com/office/officeart/2005/8/layout/cycle5"/>
    <dgm:cxn modelId="{9134A342-8E39-4D01-AC8C-BC8FB49F6C8C}" srcId="{BEDC07CE-2707-44F1-B643-FFADD9DBB6E1}" destId="{B2D51EDA-B737-498F-A9F5-A4317E0EBCF9}" srcOrd="4" destOrd="0" parTransId="{0DEBD3FF-C2BE-4D12-9210-9729473E5209}" sibTransId="{5C5942C5-E7BC-4B53-9DA8-88AB0228F6DC}"/>
    <dgm:cxn modelId="{A84ADDEE-0125-4A4B-A361-EE43283E5861}" srcId="{BEDC07CE-2707-44F1-B643-FFADD9DBB6E1}" destId="{01077DD7-39EA-43DF-BD75-AD044E4D5917}" srcOrd="0" destOrd="0" parTransId="{2655EF79-61E3-4EAC-8CB0-769837AA0511}" sibTransId="{811CD215-A045-4208-B26E-78B95B5B1894}"/>
    <dgm:cxn modelId="{5C7FD5DB-44FB-48B8-8FD9-DB8C9BA51569}" type="presOf" srcId="{C44F63CF-A985-46DF-82C8-240669A2B68D}" destId="{8259AC97-E9ED-43BD-8A5D-D0DBB4C70F34}" srcOrd="0" destOrd="0" presId="urn:microsoft.com/office/officeart/2005/8/layout/cycle5"/>
    <dgm:cxn modelId="{A8F018D6-35EF-4C66-A1BC-44AD874CE3EC}" type="presOf" srcId="{32074876-E230-412A-911E-B87DEB183B6F}" destId="{E7CF2EBA-7D38-42CA-92C0-AE6438D12E91}" srcOrd="0" destOrd="0" presId="urn:microsoft.com/office/officeart/2005/8/layout/cycle5"/>
    <dgm:cxn modelId="{C646AD65-42FC-41D6-83FB-BF4E35DAC61F}" srcId="{BEDC07CE-2707-44F1-B643-FFADD9DBB6E1}" destId="{C44F63CF-A985-46DF-82C8-240669A2B68D}" srcOrd="2" destOrd="0" parTransId="{98ABAC06-0727-4400-A0E2-0AB675592AAB}" sibTransId="{7029C31B-2A5C-4C9A-911A-93B1FA5D462E}"/>
    <dgm:cxn modelId="{59627AAE-B476-48E9-8095-E30F06A08C64}" type="presParOf" srcId="{4CCEF618-0F1C-4BB1-8242-5358FB28D986}" destId="{ACB93D15-00F8-4D8C-8175-B7F7F7582196}" srcOrd="0" destOrd="0" presId="urn:microsoft.com/office/officeart/2005/8/layout/cycle5"/>
    <dgm:cxn modelId="{DC0C5422-D61A-402D-BA4F-A5113B05C858}" type="presParOf" srcId="{4CCEF618-0F1C-4BB1-8242-5358FB28D986}" destId="{9A12B131-18D0-4A62-BF60-3482D945D940}" srcOrd="1" destOrd="0" presId="urn:microsoft.com/office/officeart/2005/8/layout/cycle5"/>
    <dgm:cxn modelId="{7DE32AAC-FA9C-407E-8072-445150B69E85}" type="presParOf" srcId="{4CCEF618-0F1C-4BB1-8242-5358FB28D986}" destId="{AD57CAF4-FC4F-4A90-81E2-7C797CFEBE1B}" srcOrd="2" destOrd="0" presId="urn:microsoft.com/office/officeart/2005/8/layout/cycle5"/>
    <dgm:cxn modelId="{8C088222-C83C-4274-9A63-1F105C7E381D}" type="presParOf" srcId="{4CCEF618-0F1C-4BB1-8242-5358FB28D986}" destId="{A577E049-D61D-4608-A18A-57299E4A0FD4}" srcOrd="3" destOrd="0" presId="urn:microsoft.com/office/officeart/2005/8/layout/cycle5"/>
    <dgm:cxn modelId="{516D1B3B-E36C-4F33-9D27-8117325FEAD9}" type="presParOf" srcId="{4CCEF618-0F1C-4BB1-8242-5358FB28D986}" destId="{ADD19ED9-2CCF-459B-987D-174B8D70D55B}" srcOrd="4" destOrd="0" presId="urn:microsoft.com/office/officeart/2005/8/layout/cycle5"/>
    <dgm:cxn modelId="{F2E9C86A-EF2E-4BBA-A599-D24377BFF014}" type="presParOf" srcId="{4CCEF618-0F1C-4BB1-8242-5358FB28D986}" destId="{E7CF2EBA-7D38-42CA-92C0-AE6438D12E91}" srcOrd="5" destOrd="0" presId="urn:microsoft.com/office/officeart/2005/8/layout/cycle5"/>
    <dgm:cxn modelId="{9BB5C9CA-59FE-48C2-A6F9-3F0AD8BCE673}" type="presParOf" srcId="{4CCEF618-0F1C-4BB1-8242-5358FB28D986}" destId="{8259AC97-E9ED-43BD-8A5D-D0DBB4C70F34}" srcOrd="6" destOrd="0" presId="urn:microsoft.com/office/officeart/2005/8/layout/cycle5"/>
    <dgm:cxn modelId="{D7AC480C-68E4-4707-A122-3E7A0C61BFD7}" type="presParOf" srcId="{4CCEF618-0F1C-4BB1-8242-5358FB28D986}" destId="{7576D024-B163-4E49-B760-646A1C8926D4}" srcOrd="7" destOrd="0" presId="urn:microsoft.com/office/officeart/2005/8/layout/cycle5"/>
    <dgm:cxn modelId="{9C69AD2B-1D20-435D-871F-C600D2A69538}" type="presParOf" srcId="{4CCEF618-0F1C-4BB1-8242-5358FB28D986}" destId="{DF48EE01-8013-4899-A9BE-EEC5CE3B7F00}" srcOrd="8" destOrd="0" presId="urn:microsoft.com/office/officeart/2005/8/layout/cycle5"/>
    <dgm:cxn modelId="{8A9B7646-167D-4F41-A036-6036A624D85D}" type="presParOf" srcId="{4CCEF618-0F1C-4BB1-8242-5358FB28D986}" destId="{97266C65-3406-4F49-A6EC-83D27CE79E5F}" srcOrd="9" destOrd="0" presId="urn:microsoft.com/office/officeart/2005/8/layout/cycle5"/>
    <dgm:cxn modelId="{C23F2342-E4E6-49F9-AEED-8A643096908E}" type="presParOf" srcId="{4CCEF618-0F1C-4BB1-8242-5358FB28D986}" destId="{2F1E782D-188F-4B73-BB2C-63F7DCA825B3}" srcOrd="10" destOrd="0" presId="urn:microsoft.com/office/officeart/2005/8/layout/cycle5"/>
    <dgm:cxn modelId="{DB4DE6E9-28E0-4469-9D74-028B48B73A3B}" type="presParOf" srcId="{4CCEF618-0F1C-4BB1-8242-5358FB28D986}" destId="{6B56B917-2E43-4499-B0A3-2A3ED4EFCE5A}" srcOrd="11" destOrd="0" presId="urn:microsoft.com/office/officeart/2005/8/layout/cycle5"/>
    <dgm:cxn modelId="{120B4F2D-A6D7-4C49-8D67-C31572234360}" type="presParOf" srcId="{4CCEF618-0F1C-4BB1-8242-5358FB28D986}" destId="{78A873E9-1339-4946-9A60-5571F2DA1EDE}" srcOrd="12" destOrd="0" presId="urn:microsoft.com/office/officeart/2005/8/layout/cycle5"/>
    <dgm:cxn modelId="{2F622DD3-E1BA-4252-BB60-71AEFEA1A557}" type="presParOf" srcId="{4CCEF618-0F1C-4BB1-8242-5358FB28D986}" destId="{6CC1BEA6-A4E2-4AC7-88CF-8DBDBD167B06}" srcOrd="13" destOrd="0" presId="urn:microsoft.com/office/officeart/2005/8/layout/cycle5"/>
    <dgm:cxn modelId="{D4E3ACDE-56E7-41B7-87B3-0F3D5CB61A55}" type="presParOf" srcId="{4CCEF618-0F1C-4BB1-8242-5358FB28D986}" destId="{DA10EE5A-E714-486C-ABC8-DB044F132EEC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93D15-00F8-4D8C-8175-B7F7F7582196}">
      <dsp:nvSpPr>
        <dsp:cNvPr id="0" name=""/>
        <dsp:cNvSpPr/>
      </dsp:nvSpPr>
      <dsp:spPr>
        <a:xfrm>
          <a:off x="1519093" y="1027"/>
          <a:ext cx="1109950" cy="72146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1. Requirements &amp; Planning</a:t>
          </a:r>
          <a:endParaRPr lang="en-US" sz="1200" kern="1200" dirty="0"/>
        </a:p>
      </dsp:txBody>
      <dsp:txXfrm>
        <a:off x="1554312" y="36246"/>
        <a:ext cx="1039512" cy="651029"/>
      </dsp:txXfrm>
    </dsp:sp>
    <dsp:sp modelId="{AD57CAF4-FC4F-4A90-81E2-7C797CFEBE1B}">
      <dsp:nvSpPr>
        <dsp:cNvPr id="0" name=""/>
        <dsp:cNvSpPr/>
      </dsp:nvSpPr>
      <dsp:spPr>
        <a:xfrm>
          <a:off x="632960" y="361761"/>
          <a:ext cx="2882216" cy="2882216"/>
        </a:xfrm>
        <a:custGeom>
          <a:avLst/>
          <a:gdLst/>
          <a:ahLst/>
          <a:cxnLst/>
          <a:rect l="0" t="0" r="0" b="0"/>
          <a:pathLst>
            <a:path>
              <a:moveTo>
                <a:pt x="2144704" y="183433"/>
              </a:moveTo>
              <a:arcTo wR="1441108" hR="1441108" stAng="17953469" swAng="1211485"/>
            </a:path>
          </a:pathLst>
        </a:custGeom>
        <a:noFill/>
        <a:ln w="63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77E049-D61D-4608-A18A-57299E4A0FD4}">
      <dsp:nvSpPr>
        <dsp:cNvPr id="0" name=""/>
        <dsp:cNvSpPr/>
      </dsp:nvSpPr>
      <dsp:spPr>
        <a:xfrm>
          <a:off x="2889668" y="996809"/>
          <a:ext cx="1109950" cy="721467"/>
        </a:xfrm>
        <a:prstGeom prst="roundRect">
          <a:avLst/>
        </a:prstGeom>
        <a:solidFill>
          <a:schemeClr val="accent3">
            <a:hueOff val="-3450900"/>
            <a:satOff val="-9096"/>
            <a:lumOff val="-2353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2. Design  (Figma)</a:t>
          </a:r>
          <a:endParaRPr lang="en-US" sz="1200" kern="1200" dirty="0"/>
        </a:p>
      </dsp:txBody>
      <dsp:txXfrm>
        <a:off x="2924887" y="1032028"/>
        <a:ext cx="1039512" cy="651029"/>
      </dsp:txXfrm>
    </dsp:sp>
    <dsp:sp modelId="{E7CF2EBA-7D38-42CA-92C0-AE6438D12E91}">
      <dsp:nvSpPr>
        <dsp:cNvPr id="0" name=""/>
        <dsp:cNvSpPr/>
      </dsp:nvSpPr>
      <dsp:spPr>
        <a:xfrm>
          <a:off x="632960" y="361761"/>
          <a:ext cx="2882216" cy="2882216"/>
        </a:xfrm>
        <a:custGeom>
          <a:avLst/>
          <a:gdLst/>
          <a:ahLst/>
          <a:cxnLst/>
          <a:rect l="0" t="0" r="0" b="0"/>
          <a:pathLst>
            <a:path>
              <a:moveTo>
                <a:pt x="2878759" y="1540873"/>
              </a:moveTo>
              <a:arcTo wR="1441108" hR="1441108" stAng="21838180" swAng="1359685"/>
            </a:path>
          </a:pathLst>
        </a:custGeom>
        <a:noFill/>
        <a:ln w="6350" cap="rnd" cmpd="sng" algn="ctr">
          <a:solidFill>
            <a:schemeClr val="accent3">
              <a:hueOff val="-3450900"/>
              <a:satOff val="-9096"/>
              <a:lumOff val="-235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59AC97-E9ED-43BD-8A5D-D0DBB4C70F34}">
      <dsp:nvSpPr>
        <dsp:cNvPr id="0" name=""/>
        <dsp:cNvSpPr/>
      </dsp:nvSpPr>
      <dsp:spPr>
        <a:xfrm>
          <a:off x="2366155" y="2608017"/>
          <a:ext cx="1109950" cy="721467"/>
        </a:xfrm>
        <a:prstGeom prst="roundRect">
          <a:avLst/>
        </a:prstGeom>
        <a:solidFill>
          <a:schemeClr val="accent3">
            <a:hueOff val="-6901799"/>
            <a:satOff val="-18192"/>
            <a:lumOff val="-4706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3. Iterative Development</a:t>
          </a:r>
          <a:endParaRPr lang="en-US" sz="1200" kern="1200" dirty="0"/>
        </a:p>
      </dsp:txBody>
      <dsp:txXfrm>
        <a:off x="2401374" y="2643236"/>
        <a:ext cx="1039512" cy="651029"/>
      </dsp:txXfrm>
    </dsp:sp>
    <dsp:sp modelId="{DF48EE01-8013-4899-A9BE-EEC5CE3B7F00}">
      <dsp:nvSpPr>
        <dsp:cNvPr id="0" name=""/>
        <dsp:cNvSpPr/>
      </dsp:nvSpPr>
      <dsp:spPr>
        <a:xfrm>
          <a:off x="632960" y="361761"/>
          <a:ext cx="2882216" cy="2882216"/>
        </a:xfrm>
        <a:custGeom>
          <a:avLst/>
          <a:gdLst/>
          <a:ahLst/>
          <a:cxnLst/>
          <a:rect l="0" t="0" r="0" b="0"/>
          <a:pathLst>
            <a:path>
              <a:moveTo>
                <a:pt x="1617951" y="2871324"/>
              </a:moveTo>
              <a:arcTo wR="1441108" hR="1441108" stAng="4977077" swAng="845846"/>
            </a:path>
          </a:pathLst>
        </a:custGeom>
        <a:noFill/>
        <a:ln w="6350" cap="rnd" cmpd="sng" algn="ctr">
          <a:solidFill>
            <a:schemeClr val="accent3">
              <a:hueOff val="-6901799"/>
              <a:satOff val="-18192"/>
              <a:lumOff val="-470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266C65-3406-4F49-A6EC-83D27CE79E5F}">
      <dsp:nvSpPr>
        <dsp:cNvPr id="0" name=""/>
        <dsp:cNvSpPr/>
      </dsp:nvSpPr>
      <dsp:spPr>
        <a:xfrm>
          <a:off x="672030" y="2608017"/>
          <a:ext cx="1109950" cy="721467"/>
        </a:xfrm>
        <a:prstGeom prst="roundRect">
          <a:avLst/>
        </a:prstGeom>
        <a:solidFill>
          <a:schemeClr val="accent3">
            <a:hueOff val="-10352699"/>
            <a:satOff val="-27289"/>
            <a:lumOff val="-7059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4. Testing &amp; Feedback</a:t>
          </a:r>
          <a:endParaRPr lang="en-US" sz="1200" kern="1200" dirty="0"/>
        </a:p>
      </dsp:txBody>
      <dsp:txXfrm>
        <a:off x="707249" y="2643236"/>
        <a:ext cx="1039512" cy="651029"/>
      </dsp:txXfrm>
    </dsp:sp>
    <dsp:sp modelId="{6B56B917-2E43-4499-B0A3-2A3ED4EFCE5A}">
      <dsp:nvSpPr>
        <dsp:cNvPr id="0" name=""/>
        <dsp:cNvSpPr/>
      </dsp:nvSpPr>
      <dsp:spPr>
        <a:xfrm>
          <a:off x="632960" y="361761"/>
          <a:ext cx="2882216" cy="2882216"/>
        </a:xfrm>
        <a:custGeom>
          <a:avLst/>
          <a:gdLst/>
          <a:ahLst/>
          <a:cxnLst/>
          <a:rect l="0" t="0" r="0" b="0"/>
          <a:pathLst>
            <a:path>
              <a:moveTo>
                <a:pt x="152885" y="2087076"/>
              </a:moveTo>
              <a:arcTo wR="1441108" hR="1441108" stAng="9202135" swAng="1359685"/>
            </a:path>
          </a:pathLst>
        </a:custGeom>
        <a:noFill/>
        <a:ln w="6350" cap="rnd" cmpd="sng" algn="ctr">
          <a:solidFill>
            <a:schemeClr val="accent3">
              <a:hueOff val="-10352699"/>
              <a:satOff val="-27289"/>
              <a:lumOff val="-705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873E9-1339-4946-9A60-5571F2DA1EDE}">
      <dsp:nvSpPr>
        <dsp:cNvPr id="0" name=""/>
        <dsp:cNvSpPr/>
      </dsp:nvSpPr>
      <dsp:spPr>
        <a:xfrm>
          <a:off x="148517" y="996809"/>
          <a:ext cx="1109950" cy="721467"/>
        </a:xfrm>
        <a:prstGeom prst="roundRect">
          <a:avLst/>
        </a:prstGeom>
        <a:solidFill>
          <a:schemeClr val="accent3">
            <a:hueOff val="-13803598"/>
            <a:satOff val="-36385"/>
            <a:lumOff val="-9412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5. Deployment &amp; Review</a:t>
          </a:r>
          <a:endParaRPr lang="en-US" sz="1200" kern="1200" dirty="0"/>
        </a:p>
      </dsp:txBody>
      <dsp:txXfrm>
        <a:off x="183736" y="1032028"/>
        <a:ext cx="1039512" cy="651029"/>
      </dsp:txXfrm>
    </dsp:sp>
    <dsp:sp modelId="{DA10EE5A-E714-486C-ABC8-DB044F132EEC}">
      <dsp:nvSpPr>
        <dsp:cNvPr id="0" name=""/>
        <dsp:cNvSpPr/>
      </dsp:nvSpPr>
      <dsp:spPr>
        <a:xfrm>
          <a:off x="632960" y="361761"/>
          <a:ext cx="2882216" cy="2882216"/>
        </a:xfrm>
        <a:custGeom>
          <a:avLst/>
          <a:gdLst/>
          <a:ahLst/>
          <a:cxnLst/>
          <a:rect l="0" t="0" r="0" b="0"/>
          <a:pathLst>
            <a:path>
              <a:moveTo>
                <a:pt x="346655" y="503575"/>
              </a:moveTo>
              <a:arcTo wR="1441108" hR="1441108" stAng="13235046" swAng="1211485"/>
            </a:path>
          </a:pathLst>
        </a:custGeom>
        <a:noFill/>
        <a:ln w="6350" cap="rnd" cmpd="sng" algn="ctr">
          <a:solidFill>
            <a:schemeClr val="accent3">
              <a:hueOff val="-13803598"/>
              <a:satOff val="-36385"/>
              <a:lumOff val="-9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D94D7-2580-4326-817C-29020A9CEF8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8B07B-B6BB-44F5-8038-3E518039D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43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8B07B-B6BB-44F5-8038-3E518039D4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6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F812137B-2E89-4F52-9268-BC2A963BBDC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9EBB78A-3DFE-4A8F-BD74-2534B41ABF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8077200" cy="1673352"/>
          </a:xfrm>
        </p:spPr>
        <p:txBody>
          <a:bodyPr>
            <a:normAutofit/>
          </a:bodyPr>
          <a:lstStyle/>
          <a:p>
            <a:pPr algn="ctr"/>
            <a:r>
              <a:rPr lang="en-US" sz="8000" dirty="0" smtClean="0">
                <a:solidFill>
                  <a:srgbClr val="006600"/>
                </a:solidFill>
              </a:rPr>
              <a:t>AgricShare SL</a:t>
            </a:r>
            <a:endParaRPr lang="en-US" sz="8000" dirty="0">
              <a:solidFill>
                <a:srgbClr val="0066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685800"/>
            <a:ext cx="8077200" cy="2819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itchFamily="34" charset="0"/>
              </a:rPr>
              <a:t>A Digital Public Good for Agriculture, inclusive Logistics, and Collaborative Service Networks in Sierra Leone.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itchFamily="34" charset="0"/>
              </a:rPr>
              <a:t>CORE CONCEPT: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itchFamily="34" charset="0"/>
              </a:rPr>
              <a:t>A mobile platform designed to bridge the digital divide, reduce food spoilage, and sanitize the middlemen supply-chain using transparent, trust-based service partner network.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31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Structural Supply Chain Failures in Sierra </a:t>
            </a:r>
            <a:r>
              <a:rPr lang="en-US" dirty="0"/>
              <a:t>L</a:t>
            </a:r>
            <a:r>
              <a:rPr lang="en-US" dirty="0" smtClean="0"/>
              <a:t>eone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Post-Harvest Waste: 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Up to 40% of crops rot in agricultural hubs like Kenema and Kabala due to high individual transport costs in Freetown.</a:t>
            </a:r>
          </a:p>
          <a:p>
            <a:pPr marL="118872" indent="0">
              <a:buNone/>
            </a:pP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r>
              <a:rPr lang="en-US" sz="2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Exploitative Middlemen: 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Unregulated middlemen buy crops at predatory low prices from farmers and resell them at highly inflated retail rates in urban centers.</a:t>
            </a:r>
          </a:p>
          <a:p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The Digital Divide: 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Illiterate or semi-literate rural farmers are locked out of standard smartphone apps.</a:t>
            </a:r>
          </a:p>
          <a:p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Youth Unemployment: </a:t>
            </a:r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High rates of unemployed, digitally literate youths in provincial districts</a:t>
            </a:r>
          </a:p>
          <a:p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9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AgricShare SL Ecosystem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Agents: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Literate youth list crops for illiterate farmers using </a:t>
            </a: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Krio </a:t>
            </a: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Voice(Different ethnic languages in Sierra Leone) &amp; Youth 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oice recordings, earning a 2% sales commission.</a:t>
            </a:r>
          </a:p>
          <a:p>
            <a:endParaRPr lang="en-US" sz="20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The “Virtual Truck” Aggregation Engine: 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Groups small crop orders or different people orders into one bulk transit shipment, dropping shipping costs at a lower cost for all people.</a:t>
            </a:r>
          </a:p>
          <a:p>
            <a:endParaRPr lang="en-US" sz="20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Re-engineered Intermediares: 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Middlemen are transitioned into formal, transparent </a:t>
            </a: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 Partners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(Logistics, Storage, Hubs)</a:t>
            </a:r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endParaRPr lang="en-US" sz="20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0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QR-Verified Mobile Money Escrow:</a:t>
            </a:r>
            <a:r>
              <a:rPr 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Payments are locked securely via Orange Money/Afrimoney APIs and only released when driver scans the buyer’s QR code.</a:t>
            </a:r>
          </a:p>
        </p:txBody>
      </p:sp>
    </p:spTree>
    <p:extLst>
      <p:ext uri="{BB962C8B-B14F-4D97-AF65-F5344CB8AC3E}">
        <p14:creationId xmlns:p14="http://schemas.microsoft.com/office/powerpoint/2010/main" val="340996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Life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Model Selected: </a:t>
            </a: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Agile Iterative Model</a:t>
            </a:r>
          </a:p>
          <a:p>
            <a:pPr marL="118872" indent="0">
              <a:buNone/>
            </a:pPr>
            <a:endParaRPr lang="en-US" sz="2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Why Agile: </a:t>
            </a: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Designing for multiple distinct</a:t>
            </a:r>
          </a:p>
          <a:p>
            <a:pPr marL="118872" indent="0">
              <a:buNone/>
            </a:pP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Users (Farmers, Agents, Drivers, Storage</a:t>
            </a:r>
          </a:p>
          <a:p>
            <a:pPr marL="118872" indent="0">
              <a:buNone/>
            </a:pP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Partners, NGOs) required constant</a:t>
            </a:r>
          </a:p>
          <a:p>
            <a:pPr marL="118872" indent="0">
              <a:buNone/>
            </a:pP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Feedback loops.</a:t>
            </a:r>
          </a:p>
          <a:p>
            <a:pPr marL="118872" indent="0">
              <a:buNone/>
            </a:pPr>
            <a:endParaRPr lang="en-US" sz="2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User Research Iteration: </a:t>
            </a: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Early</a:t>
            </a:r>
          </a:p>
          <a:p>
            <a:pPr marL="118872" indent="0">
              <a:buNone/>
            </a:pP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Testing showed that farmers struggled</a:t>
            </a:r>
          </a:p>
          <a:p>
            <a:pPr marL="118872" indent="0">
              <a:buNone/>
            </a:pPr>
            <a:r>
              <a:rPr lang="en-US" sz="22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with text-heavy screens, leading directly </a:t>
            </a:r>
          </a:p>
          <a:p>
            <a:pPr marL="118872" indent="0">
              <a:buNone/>
            </a:pP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To the integration of </a:t>
            </a:r>
            <a:r>
              <a:rPr lang="en-US" sz="2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Krio Voice note </a:t>
            </a:r>
          </a:p>
          <a:p>
            <a:pPr marL="118872" indent="0">
              <a:buNone/>
            </a:pPr>
            <a:r>
              <a:rPr lang="en-US" sz="2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Playback Feature.</a:t>
            </a:r>
          </a:p>
          <a:p>
            <a:endParaRPr lang="en-US" sz="2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Risk Reduction:</a:t>
            </a: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Allowed use to test </a:t>
            </a:r>
          </a:p>
          <a:p>
            <a:pPr marL="118872" indent="0">
              <a:buNone/>
            </a:pP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Like the mobile money payment and Hub </a:t>
            </a:r>
          </a:p>
          <a:p>
            <a:pPr marL="118872" indent="0">
              <a:buNone/>
            </a:pPr>
            <a:r>
              <a:rPr lang="en-US" sz="2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Security checks before full Deployment.</a:t>
            </a:r>
          </a:p>
          <a:p>
            <a:pPr marL="118872" indent="0">
              <a:buNone/>
            </a:pPr>
            <a:endParaRPr lang="en-US" sz="23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18872" indent="0">
              <a:buNone/>
            </a:pPr>
            <a:endParaRPr lang="en-US" sz="2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18872" indent="0">
              <a:buNone/>
            </a:pPr>
            <a:endParaRPr lang="en-US" sz="2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18872" indent="0">
              <a:buNone/>
            </a:pP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27290850"/>
              </p:ext>
            </p:extLst>
          </p:nvPr>
        </p:nvGraphicFramePr>
        <p:xfrm>
          <a:off x="5029200" y="2438400"/>
          <a:ext cx="4148137" cy="337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20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Three-Tier System Architecture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81088" y="1600199"/>
            <a:ext cx="6534151" cy="2285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47789" y="1571625"/>
            <a:ext cx="6477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                               </a:t>
            </a:r>
            <a:r>
              <a:rPr lang="en-US" sz="2400" b="1" dirty="0" smtClean="0">
                <a:solidFill>
                  <a:schemeClr val="bg1"/>
                </a:solidFill>
              </a:rPr>
              <a:t>Presentation Layer (User Interface)</a:t>
            </a:r>
          </a:p>
          <a:p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*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Farmer &amp; Agent Mobile App: (View market prices, post crop listings, Track Transport and price Alerts.</a:t>
            </a: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*Driver Mobile App: View available delivery Jobs, accept routes, confirm pickup and Delivery (QR Scanner)</a:t>
            </a: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*Buyer NGO Web Portal: Marketplace Catalog, Place Bulk Orders.</a:t>
            </a: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*Hub Agent Portal: Manage check-ins, Registers Driver Details (ID, License Plate, Address.</a:t>
            </a:r>
          </a:p>
          <a:p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Up-Down Arrow 6"/>
          <p:cNvSpPr/>
          <p:nvPr/>
        </p:nvSpPr>
        <p:spPr>
          <a:xfrm>
            <a:off x="4234720" y="3886199"/>
            <a:ext cx="484632" cy="60483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81087" y="4495800"/>
            <a:ext cx="6534151" cy="23212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09789" y="4601041"/>
            <a:ext cx="4952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Application /Business Logic Layer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1674" y="5062706"/>
            <a:ext cx="63769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. </a:t>
            </a:r>
            <a:r>
              <a:rPr lang="en-US" dirty="0" smtClean="0"/>
              <a:t>Web Application Server: Manages API requests from apps and portals.</a:t>
            </a:r>
          </a:p>
          <a:p>
            <a:r>
              <a:rPr lang="en-US" dirty="0" smtClean="0"/>
              <a:t>.Matching Engine: Calculates optimized transport routes and match drivers to Hubs. </a:t>
            </a:r>
          </a:p>
          <a:p>
            <a:r>
              <a:rPr lang="en-US" dirty="0" smtClean="0"/>
              <a:t>.Security &amp; Verification Controller: Validates driver credentials and physical  IDs  before loading cargo.</a:t>
            </a:r>
            <a:endParaRPr lang="en-US" dirty="0"/>
          </a:p>
        </p:txBody>
      </p:sp>
      <p:sp>
        <p:nvSpPr>
          <p:cNvPr id="11" name="Up-Down Arrow 10"/>
          <p:cNvSpPr/>
          <p:nvPr/>
        </p:nvSpPr>
        <p:spPr>
          <a:xfrm>
            <a:off x="4127852" y="6927806"/>
            <a:ext cx="484632" cy="762000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81087" y="7580051"/>
            <a:ext cx="6376988" cy="2902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555084" y="7704094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DATA AND INTEGRATION LAYER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1674" y="7620429"/>
            <a:ext cx="62108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.PostgreSQL Database: Stores User Profiles (Farmers, Drivers, Buyers), Transaction histories, Escrow logs, and crop listings.</a:t>
            </a:r>
          </a:p>
          <a:p>
            <a:endParaRPr lang="en-US" dirty="0" smtClean="0"/>
          </a:p>
          <a:p>
            <a:r>
              <a:rPr lang="en-US" dirty="0" smtClean="0"/>
              <a:t>Firebase Storage: Securely host driver document, license plates, and profile images.</a:t>
            </a:r>
          </a:p>
          <a:p>
            <a:endParaRPr lang="en-US" dirty="0"/>
          </a:p>
          <a:p>
            <a:r>
              <a:rPr lang="en-US" dirty="0" smtClean="0"/>
              <a:t>API Integrations: External connections for payment gateaways and SMS notifications.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Screens 1 &amp; 2: Login Setup and Main navigation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28948"/>
            <a:ext cx="2057400" cy="466126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057400"/>
            <a:ext cx="2209800" cy="403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4800" y="1752600"/>
            <a:ext cx="4038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Low Barrier Access: Phone Number and PIN login (No email needed.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Global Accessibility: Play in Krio or other local languages audio button at the top of interface.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Unified Notifications: Displays  active tracking, agent alerts and payout notifications.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4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Screen 3 &amp; 4: Role Selection &amp; Farmer Dashboard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45921"/>
            <a:ext cx="2286701" cy="462597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639390"/>
            <a:ext cx="2391237" cy="52186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400" y="1828800"/>
            <a:ext cx="3276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Role Selection: Segmented paths for Farmers, Buyers, Drivers, and Service Partners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Farmer/Agent Dashboard: Displays total sales, crop inventory, pending orders, and wallet balance.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Commission Tracker: Transparent 2% commission tracking for Youth  Agents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Screens 5&amp;6: Crop Listing &amp; Buyer Marketplace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98625"/>
            <a:ext cx="2515301" cy="462597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246" y="1600200"/>
            <a:ext cx="2286000" cy="472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1828800"/>
            <a:ext cx="3352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Sell Crops (Screen 5): Features of voice-recording button for crop descriptions and option settings for Quality Hub Verification.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Marketplace(Screen 6): Shows available local crops, crop quality ratings, and farm-gate pricing.</a:t>
            </a:r>
          </a:p>
        </p:txBody>
      </p:sp>
    </p:spTree>
    <p:extLst>
      <p:ext uri="{BB962C8B-B14F-4D97-AF65-F5344CB8AC3E}">
        <p14:creationId xmlns:p14="http://schemas.microsoft.com/office/powerpoint/2010/main" val="19139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Screen  7 &amp; 8:Product Details &amp; Aggregated Checkout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828800"/>
            <a:ext cx="2514600" cy="462597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371" y="1905000"/>
            <a:ext cx="3011699" cy="472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400" y="1828800"/>
            <a:ext cx="3276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Screen 7: Product Details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Description: This screen displays comprehensive product details for selected crop listings, including farm gate pricing, weight, quality certifications and the origin hub location. Features Krio Voice Playback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Screen 8: Cart &amp; Checkout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Tracks progress toward the bulk “Virtual Truck” transport  discount.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Details split payments and lock funds in the Escrow.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6264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Screens 9 &amp; 10: Driver Dashboard &amp; QR Code Verification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03917"/>
            <a:ext cx="2438400" cy="462597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600200"/>
            <a:ext cx="2590800" cy="495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" y="1752600"/>
            <a:ext cx="3276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Driver Dashboard (Screen 9): Segments Jobs into Long-Haul runs and last mile Deliveries.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Verification (Screen 10): Driver scans the buyer’s QR Code on Delivery, Triggering the </a:t>
            </a:r>
            <a:r>
              <a:rPr lang="en-US" dirty="0" err="1" smtClean="0"/>
              <a:t>istant</a:t>
            </a:r>
            <a:r>
              <a:rPr lang="en-US" dirty="0" smtClean="0"/>
              <a:t> release of Escrow funds.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17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Transforming Intermediaries into Value Providers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Logistics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Partners: Local truck owners register to haul bulk cargo and earn guaranteed freight fees instead of buying crops cheap to mark them up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Hub Agents: Staff collection booths to weigh crops, verify quality, and physically verify driver identities and vehicle registrations to prevent transit theft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Storage Partners: Local warehouse owners lease cold and dry space for safe storage, earning fixed rental fees.</a:t>
            </a:r>
          </a:p>
        </p:txBody>
      </p:sp>
    </p:spTree>
    <p:extLst>
      <p:ext uri="{BB962C8B-B14F-4D97-AF65-F5344CB8AC3E}">
        <p14:creationId xmlns:p14="http://schemas.microsoft.com/office/powerpoint/2010/main" val="764533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NGO &amp; BULK EXPORT INTERGRATION (ZERO SPOILAGE)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NGO Interface: Allows humanitarian organizations to purchase near-spoilage or surplus crops at discounted rates.</a:t>
            </a:r>
          </a:p>
          <a:p>
            <a:r>
              <a:rPr lang="en-US" dirty="0" smtClean="0"/>
              <a:t>School Feeding Programs: Routes surplus crops directly to local public school kitchens to minimize post-harvest waste (SDG 2).</a:t>
            </a:r>
          </a:p>
          <a:p>
            <a:r>
              <a:rPr lang="en-US" dirty="0" smtClean="0"/>
              <a:t>Commercial Buyers: Bulk processors purchase wholesale volumes with verified quality and transaction records saved on the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01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MANAGEMENT AND TIMELINE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970644"/>
              </p:ext>
            </p:extLst>
          </p:nvPr>
        </p:nvGraphicFramePr>
        <p:xfrm>
          <a:off x="457200" y="1774825"/>
          <a:ext cx="8229599" cy="4046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838200"/>
                <a:gridCol w="936171"/>
                <a:gridCol w="1175657"/>
                <a:gridCol w="1175657"/>
                <a:gridCol w="1175657"/>
                <a:gridCol w="1175657"/>
              </a:tblGrid>
              <a:tr h="29495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Task/Week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W3-4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W5-6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W7-9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W10-11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W12</a:t>
                      </a:r>
                      <a:endParaRPr lang="en-US" dirty="0"/>
                    </a:p>
                  </a:txBody>
                  <a:tcPr/>
                </a:tc>
              </a:tr>
              <a:tr h="755015">
                <a:tc>
                  <a:txBody>
                    <a:bodyPr/>
                    <a:lstStyle/>
                    <a:p>
                      <a:r>
                        <a:rPr lang="en-US" dirty="0" smtClean="0"/>
                        <a:t>1. 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4958">
                <a:tc>
                  <a:txBody>
                    <a:bodyPr/>
                    <a:lstStyle/>
                    <a:p>
                      <a:r>
                        <a:rPr lang="en-US" dirty="0" smtClean="0"/>
                        <a:t>2.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4958">
                <a:tc>
                  <a:txBody>
                    <a:bodyPr/>
                    <a:lstStyle/>
                    <a:p>
                      <a:r>
                        <a:rPr lang="en-US" dirty="0" smtClean="0"/>
                        <a:t>3.  Figma UI/UX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16176">
                <a:tc>
                  <a:txBody>
                    <a:bodyPr/>
                    <a:lstStyle/>
                    <a:p>
                      <a:r>
                        <a:rPr lang="en-US" dirty="0" smtClean="0"/>
                        <a:t>4. Integration</a:t>
                      </a:r>
                      <a:r>
                        <a:rPr lang="en-US" baseline="0" dirty="0" smtClean="0"/>
                        <a:t> &amp;</a:t>
                      </a:r>
                    </a:p>
                    <a:p>
                      <a:r>
                        <a:rPr lang="en-US" baseline="0" dirty="0" smtClean="0"/>
                        <a:t>     Logic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16176">
                <a:tc>
                  <a:txBody>
                    <a:bodyPr/>
                    <a:lstStyle/>
                    <a:p>
                      <a:r>
                        <a:rPr lang="en-US" dirty="0" smtClean="0"/>
                        <a:t>5. Testing &amp; GIT</a:t>
                      </a:r>
                    </a:p>
                    <a:p>
                      <a:r>
                        <a:rPr lang="en-US" dirty="0" smtClean="0"/>
                        <a:t>      HUB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37394">
                <a:tc>
                  <a:txBody>
                    <a:bodyPr/>
                    <a:lstStyle/>
                    <a:p>
                      <a:r>
                        <a:rPr lang="en-US" dirty="0" smtClean="0"/>
                        <a:t>6. Submission</a:t>
                      </a:r>
                      <a:r>
                        <a:rPr lang="en-US" baseline="0" dirty="0" smtClean="0"/>
                        <a:t> and Deployment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48000" y="1443055"/>
            <a:ext cx="1485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Gantt Chart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7725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NETWORK DIAGRAM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71600" y="1639390"/>
            <a:ext cx="1541418" cy="13019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91863" y="4894140"/>
            <a:ext cx="1700892" cy="1171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33800" y="4630783"/>
            <a:ext cx="1371600" cy="129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19799" y="1676400"/>
            <a:ext cx="1522041" cy="13019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33800" y="1676401"/>
            <a:ext cx="1524000" cy="129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own Arrow 8"/>
          <p:cNvSpPr/>
          <p:nvPr/>
        </p:nvSpPr>
        <p:spPr>
          <a:xfrm>
            <a:off x="6613725" y="3156857"/>
            <a:ext cx="484632" cy="97840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171220" y="4663440"/>
            <a:ext cx="1602159" cy="129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420586" y="1874857"/>
            <a:ext cx="1627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UcPeriod"/>
            </a:pPr>
            <a:r>
              <a:rPr lang="en-US" sz="1400" b="1" dirty="0" smtClean="0"/>
              <a:t>Requirements Analysis</a:t>
            </a:r>
          </a:p>
          <a:p>
            <a:r>
              <a:rPr lang="en-US" sz="1400" dirty="0" smtClean="0"/>
              <a:t>Duration: 2wks</a:t>
            </a:r>
          </a:p>
          <a:p>
            <a:r>
              <a:rPr lang="en-US" sz="1400" dirty="0" smtClean="0"/>
              <a:t>Weeks: W1 – W2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3810000" y="1874857"/>
            <a:ext cx="144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B. Architecture</a:t>
            </a:r>
          </a:p>
          <a:p>
            <a:r>
              <a:rPr lang="en-US" sz="1400" dirty="0" smtClean="0"/>
              <a:t>Duration: 2wks</a:t>
            </a:r>
          </a:p>
          <a:p>
            <a:r>
              <a:rPr lang="en-US" sz="1400" dirty="0" smtClean="0"/>
              <a:t>Weeks: W3 – W4</a:t>
            </a:r>
          </a:p>
          <a:p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063558" y="1771771"/>
            <a:ext cx="137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C. Figma UI/UX</a:t>
            </a:r>
          </a:p>
          <a:p>
            <a:r>
              <a:rPr lang="en-US" sz="1400" b="1" dirty="0" smtClean="0"/>
              <a:t>Design</a:t>
            </a:r>
          </a:p>
          <a:p>
            <a:r>
              <a:rPr lang="en-US" sz="1400" b="1" dirty="0" smtClean="0"/>
              <a:t>Duration: 2wks</a:t>
            </a:r>
          </a:p>
          <a:p>
            <a:r>
              <a:rPr lang="en-US" sz="1400" b="1" dirty="0" smtClean="0"/>
              <a:t>Weeks: W5 – W6</a:t>
            </a:r>
            <a:endParaRPr lang="en-US" sz="1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248400" y="4876800"/>
            <a:ext cx="144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D</a:t>
            </a:r>
            <a:r>
              <a:rPr lang="en-US" b="1" dirty="0" smtClean="0"/>
              <a:t>. </a:t>
            </a:r>
            <a:r>
              <a:rPr lang="en-US" sz="1400" b="1" dirty="0" smtClean="0"/>
              <a:t>Integration and Logic</a:t>
            </a:r>
          </a:p>
          <a:p>
            <a:r>
              <a:rPr lang="en-US" sz="1400" b="1" dirty="0" smtClean="0"/>
              <a:t>Duration: 3wks</a:t>
            </a:r>
          </a:p>
          <a:p>
            <a:r>
              <a:rPr lang="en-US" sz="1400" b="1" dirty="0" smtClean="0"/>
              <a:t>Weeks: W7  - W9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848100" y="4618642"/>
            <a:ext cx="114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E. Testing &amp; GIT HUB</a:t>
            </a:r>
          </a:p>
          <a:p>
            <a:r>
              <a:rPr lang="en-US" sz="1400" b="1" dirty="0" smtClean="0"/>
              <a:t>Duration 2wks</a:t>
            </a:r>
          </a:p>
          <a:p>
            <a:r>
              <a:rPr lang="en-US" sz="1400" b="1" dirty="0" smtClean="0"/>
              <a:t>Weeks: W10- W11</a:t>
            </a:r>
            <a:endParaRPr lang="en-US" sz="1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328055" y="5004733"/>
            <a:ext cx="1589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F. Deployment and Submission</a:t>
            </a:r>
          </a:p>
          <a:p>
            <a:r>
              <a:rPr lang="en-US" sz="1400" b="1" dirty="0" smtClean="0"/>
              <a:t>Duration: 12wks</a:t>
            </a:r>
          </a:p>
          <a:p>
            <a:r>
              <a:rPr lang="en-US" sz="1400" b="1" dirty="0" smtClean="0"/>
              <a:t>Weeks: 1 week</a:t>
            </a:r>
            <a:endParaRPr lang="en-US" sz="1400" b="1" dirty="0"/>
          </a:p>
        </p:txBody>
      </p:sp>
      <p:sp>
        <p:nvSpPr>
          <p:cNvPr id="18" name="Right Arrow 17"/>
          <p:cNvSpPr/>
          <p:nvPr/>
        </p:nvSpPr>
        <p:spPr>
          <a:xfrm>
            <a:off x="3047998" y="2109594"/>
            <a:ext cx="609601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5368831" y="2185403"/>
            <a:ext cx="609601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Arrow 23"/>
          <p:cNvSpPr/>
          <p:nvPr/>
        </p:nvSpPr>
        <p:spPr>
          <a:xfrm>
            <a:off x="5205332" y="5136749"/>
            <a:ext cx="805758" cy="484632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Arrow 24"/>
          <p:cNvSpPr/>
          <p:nvPr/>
        </p:nvSpPr>
        <p:spPr>
          <a:xfrm>
            <a:off x="3064219" y="5250178"/>
            <a:ext cx="577158" cy="484632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3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Public Code Repository and MIT 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GitHub Repository: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Publicly accessible codebase containing database schemas, mobile client codes, and API documentation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MIT License: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Permissive open-source license protecting developer liability while permitting local modifications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Digital Public Good (DPG):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Built to be adapted and expanded by local developers, NGOs, or the Government of Sierra Leone.</a:t>
            </a:r>
          </a:p>
        </p:txBody>
      </p:sp>
    </p:spTree>
    <p:extLst>
      <p:ext uri="{BB962C8B-B14F-4D97-AF65-F5344CB8AC3E}">
        <p14:creationId xmlns:p14="http://schemas.microsoft.com/office/powerpoint/2010/main" val="841609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&amp; System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System Validation: </a:t>
            </a:r>
            <a:r>
              <a:rPr lang="en-US" dirty="0"/>
              <a:t>Core database tables track users, roles, order escrows, and vehicle capacities in a relational structure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Security </a:t>
            </a:r>
            <a:r>
              <a:rPr lang="en-US" b="1" dirty="0"/>
              <a:t>&amp; Trust: </a:t>
            </a:r>
            <a:r>
              <a:rPr lang="en-US" dirty="0"/>
              <a:t>Driver IDs verified at Hubs; payment locked in mobile money escrow until QR delivery code is scanned by the buyer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b="1" dirty="0"/>
              <a:t>Social Inclusion: </a:t>
            </a:r>
            <a:r>
              <a:rPr lang="en-US" dirty="0"/>
              <a:t>Mobile youth agents and Krio voice audio playbacks ensure rural, illiterate farmers are never left behind.</a:t>
            </a:r>
          </a:p>
        </p:txBody>
      </p:sp>
    </p:spTree>
    <p:extLst>
      <p:ext uri="{BB962C8B-B14F-4D97-AF65-F5344CB8AC3E}">
        <p14:creationId xmlns:p14="http://schemas.microsoft.com/office/powerpoint/2010/main" val="3941756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328</TotalTime>
  <Words>1218</Words>
  <Application>Microsoft Office PowerPoint</Application>
  <PresentationFormat>On-screen Show (4:3)</PresentationFormat>
  <Paragraphs>150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Module</vt:lpstr>
      <vt:lpstr>AgricShare SL</vt:lpstr>
      <vt:lpstr>Structural Supply Chain Failures in Sierra Leone</vt:lpstr>
      <vt:lpstr>AgricShare SL Ecosystem</vt:lpstr>
      <vt:lpstr>Software Development Life Cycle</vt:lpstr>
      <vt:lpstr>The Three-Tier System Architecture</vt:lpstr>
      <vt:lpstr>Screens 1 &amp; 2: Login Setup and Main navigation</vt:lpstr>
      <vt:lpstr>Screen 3 &amp; 4: Role Selection &amp; Farmer Dashboard</vt:lpstr>
      <vt:lpstr>Screens 5&amp;6: Crop Listing &amp; Buyer Marketplace </vt:lpstr>
      <vt:lpstr>Screen  7 &amp; 8:Product Details &amp; Aggregated Checkout</vt:lpstr>
      <vt:lpstr>Screens 9 &amp; 10: Driver Dashboard &amp; QR Code Verification</vt:lpstr>
      <vt:lpstr>Transforming Intermediaries into Value Providers</vt:lpstr>
      <vt:lpstr>NGO &amp; BULK EXPORT INTERGRATION (ZERO SPOILAGE)</vt:lpstr>
      <vt:lpstr>PROJECT MANAGEMENT AND TIMELINE</vt:lpstr>
      <vt:lpstr>NETWORK DIAGRAM </vt:lpstr>
      <vt:lpstr>Public Code Repository and MIT License</vt:lpstr>
      <vt:lpstr>Conclusion &amp; System Integrity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31</cp:revision>
  <dcterms:created xsi:type="dcterms:W3CDTF">2026-06-24T01:46:47Z</dcterms:created>
  <dcterms:modified xsi:type="dcterms:W3CDTF">2026-06-24T07:32:09Z</dcterms:modified>
</cp:coreProperties>
</file>